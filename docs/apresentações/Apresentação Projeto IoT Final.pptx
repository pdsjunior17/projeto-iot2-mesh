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00" dt="2026-08-31T13:34:03.978"/>
    <p1510:client id="{FED89E6D-4C25-423D-7DB3-923F80135032}" v="199" dt="2026-08-31T13:27:16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4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875" y="2552700"/>
            <a:ext cx="1190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sz="4500" b="1" i="0" u="none">
                <a:solidFill>
                  <a:srgbClr val="F8FAFC"/>
                </a:solidFill>
                <a:latin typeface="Urbanist"/>
              </a:rPr>
              <a:t>Rede Mesh LoRa </a:t>
            </a:r>
            <a:r>
              <a:rPr sz="4500" b="1" i="0" u="none">
                <a:solidFill>
                  <a:srgbClr val="0EA5E9"/>
                </a:solidFill>
                <a:latin typeface="Urbanist"/>
              </a:rPr>
              <a:t>Descentralizada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7410" y="5859133"/>
            <a:ext cx="11620500" cy="252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dirty="0" err="1">
                <a:solidFill>
                  <a:srgbClr val="CBD5E1"/>
                </a:solidFill>
                <a:latin typeface="Urbanist Medium"/>
              </a:rPr>
              <a:t>Componentes</a:t>
            </a:r>
            <a:r>
              <a:rPr lang="en-US" sz="1500" b="1" dirty="0">
                <a:solidFill>
                  <a:srgbClr val="CBD5E1"/>
                </a:solidFill>
                <a:latin typeface="Urbanist Medium"/>
              </a:rPr>
              <a:t> do Grupo</a:t>
            </a:r>
            <a:r>
              <a:rPr lang="en-US" sz="1500" dirty="0">
                <a:solidFill>
                  <a:srgbClr val="CBD5E1"/>
                </a:solidFill>
                <a:latin typeface="Urbanist Medium"/>
              </a:rPr>
              <a:t>: Charles Meira, Paulo Dimas, Rafael de Melo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357437"/>
            <a:ext cx="952500" cy="476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05676" y="2690812"/>
            <a:ext cx="51806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Urbanist"/>
              </a:rPr>
              <a:t>Objetivo do </a:t>
            </a:r>
            <a:r>
              <a:rPr sz="4500" b="1" i="0" u="none">
                <a:solidFill>
                  <a:srgbClr val="0EA5E9"/>
                </a:solidFill>
                <a:latin typeface="Urbanist"/>
              </a:rPr>
              <a:t>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67112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CBD5E1"/>
                </a:solidFill>
                <a:latin typeface="Urbanist"/>
              </a:rPr>
              <a:t>Criar uma rede sem fio descentralizada, escalável, segura e anônima para envio de mensagens assíncronas utilizando a tecnologia LoRa.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678" y="1764357"/>
            <a:ext cx="5572571" cy="3715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14575"/>
            <a:ext cx="5285928" cy="518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37"/>
              </a:lnSpc>
            </a:pPr>
            <a:r>
              <a:rPr sz="1400" b="1" i="0" u="none" dirty="0">
                <a:solidFill>
                  <a:srgbClr val="F8FAFC"/>
                </a:solidFill>
                <a:latin typeface="Urbanist"/>
              </a:rPr>
              <a:t>ESP32 LoRa V3: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Microcontrolador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de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baixo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custo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,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integrado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com Bluetooth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, 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Wi-Fi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 e LoRa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,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atuando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como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o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nó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central de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comunicação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95625"/>
            <a:ext cx="5285928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Módulo e Cartão SD: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Essencial para que os nós da rede possam persistir os dados localmente, garantindo redundância e tolerância a falhas na entrega.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148137"/>
            <a:ext cx="5285928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Dispositivo do Usuário: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Celular, PC ou SBC conectado aos nós via Bluetooth para interface, criptografia e envio dos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" y="2333625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114675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4167187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Componentes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Físicos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38262"/>
            <a:ext cx="5572125" cy="4567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338262"/>
            <a:ext cx="5572125" cy="4567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1719262"/>
            <a:ext cx="50506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B5CF6"/>
                </a:solidFill>
                <a:latin typeface="Urbanist"/>
              </a:rPr>
              <a:t>Camada Física e Modulação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5125" y="1719262"/>
            <a:ext cx="50506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B5CF6"/>
                </a:solidFill>
                <a:latin typeface="Urbanist"/>
              </a:rPr>
              <a:t>Regulamentação e LoRaWAN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185987"/>
            <a:ext cx="46196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Comunicação via ondas de rádio em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915 MHz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(Brasil abrange faixas de 902 a 907,5 MHz e 915 a 928 MHz).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871787"/>
            <a:ext cx="461962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A distância do sinal depende do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Spreading Factor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(Fator de Espalhamento),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Bandwidth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(Largura de Banda) e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Coding Rate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(Taxa de Codificação).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29050"/>
            <a:ext cx="4619625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Opera dividindo a faixa de frequência via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Multiplexação por Divisão na Frequência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em sub-bandas para evitar colisões e enviar mensagens simultâneas.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5625" y="2185987"/>
            <a:ext cx="461962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CBD5E1"/>
                </a:solidFill>
                <a:latin typeface="Urbanist"/>
              </a:rPr>
              <a:t>LoRaWAN: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Protocolo de comunicação (Camada MAC) e arquitetura de rede em topologia estrela, definindo regras, segurança e conexão.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5625" y="3143250"/>
            <a:ext cx="461962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Definido pela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ANATEL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(Ato nº 14.448/2017) como </a:t>
            </a:r>
            <a:r>
              <a:rPr sz="1425" b="0" i="1" u="none">
                <a:solidFill>
                  <a:srgbClr val="CBD5E1"/>
                </a:solidFill>
                <a:latin typeface="Urbanist Medium"/>
              </a:rPr>
              <a:t>equipamento de radiocomunicação de radiação restrita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operando na banda ISM.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5625" y="4100512"/>
            <a:ext cx="461962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Regras estritas de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Duty Cycle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(Ciclo de Trabalho), limitando a ocupação de canal (Dwell Time) a no máximo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400 milissegundos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1859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8717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829050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1859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3143250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4100512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Tecnologia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LoRa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678" y="1716881"/>
            <a:ext cx="5572571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203" y="1726406"/>
            <a:ext cx="5553521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16856"/>
            <a:ext cx="5285928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Solução Tudo-em-Um: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Placa de desenvolvimento (modelo Heltec WiFi LoRa 32 V3) que integra processamento, rádio, tela e gerenciamento de energia em um único módulo compacto.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569368"/>
            <a:ext cx="5285928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Processamento e Conectividade Local: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Equipado com o poderoso microcontrolador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ESP32-S3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(processador dual-core), oferecendo suporte nativo a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Wi-Fi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e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Bluetooth 5 (LE)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21881"/>
            <a:ext cx="5285928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Comunicação de Longo Alcance: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Utiliza o moderno transceptor rádio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Semtech SX1262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, projetado para altíssima sensibilidade e transmissões LoRa de eficiência energética superior.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74393"/>
            <a:ext cx="5285928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Autonomia e Interface: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Conta com sistema interno de gerenciamento de carga/descarga para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baterias de lítio (3.7V)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, porta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USB-C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e um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display OLED de 0.96”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embutido.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1535906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588418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3640931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" y="4693443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ESP32 LoRa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V3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38262"/>
            <a:ext cx="3683049" cy="4567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49" y="1338262"/>
            <a:ext cx="3683049" cy="4567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349" y="1338262"/>
            <a:ext cx="3683049" cy="4567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63353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2443162"/>
            <a:ext cx="30924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EA5E9"/>
                </a:solidFill>
                <a:latin typeface="Urbanist"/>
              </a:rPr>
              <a:t>Bibliotecas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890837"/>
            <a:ext cx="3092499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CBD5E1"/>
                </a:solidFill>
                <a:latin typeface="Urbanist Medium"/>
              </a:rPr>
              <a:t>Implementações em C (criptografia, compressão e Bluetooth no ESP32) e Dart/Flutter (conexão desktop/mobile e integração IPFS).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1633537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9824" y="2443162"/>
            <a:ext cx="30924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EA5E9"/>
                </a:solidFill>
                <a:latin typeface="Urbanist"/>
              </a:rPr>
              <a:t>Servidor 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2890837"/>
            <a:ext cx="3092499" cy="1199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CBD5E1"/>
                </a:solidFill>
                <a:latin typeface="Urbanist Medium"/>
              </a:rPr>
              <a:t>Nuvem rodando um nó IPFS, responsável por receber arquivos pesados, "pinnar" esses arquivos e retornar o hash para o dispositivo do usuário.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624" y="163353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8624" y="2443162"/>
            <a:ext cx="30924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EA5E9"/>
                </a:solidFill>
                <a:latin typeface="Urbanist"/>
              </a:rPr>
              <a:t>Rede IPFS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2890837"/>
            <a:ext cx="3092499" cy="1199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CBD5E1"/>
                </a:solidFill>
                <a:latin typeface="Urbanist Medium"/>
              </a:rPr>
              <a:t>Tecnologia de armazenamento distribuído utilizada para o compartilhamento público, escalável e descentralizado de mídia e arquivos grandes.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7" y="1785937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887" y="1785937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1024" y="1785937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Software &amp;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38262"/>
            <a:ext cx="5572125" cy="4567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338262"/>
            <a:ext cx="5572125" cy="4567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1719262"/>
            <a:ext cx="50506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B5CF6"/>
                </a:solidFill>
                <a:latin typeface="Urbanist"/>
              </a:rPr>
              <a:t>Tratamento da Mensagem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5125" y="1719262"/>
            <a:ext cx="50506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B5CF6"/>
                </a:solidFill>
                <a:latin typeface="Urbanist"/>
              </a:rPr>
              <a:t>Avisos e Roteamento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185987"/>
            <a:ext cx="46196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Comprimidas e criptografadas localmente pelo dispositivo (chave pública).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871787"/>
            <a:ext cx="46196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Divididas em blocos limitados ao payload físico do protocolo LoRa.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557587"/>
            <a:ext cx="461962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Integridade garantida via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CRC-16 nativo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da camada física LoRa, calculado automaticamente sem overhead lógico extra.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5625" y="2185987"/>
            <a:ext cx="46196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Cabeçalho rígido: </a:t>
            </a:r>
            <a:r>
              <a:rPr sz="1425" b="0" i="1" u="none">
                <a:solidFill>
                  <a:srgbClr val="CBD5E1"/>
                </a:solidFill>
                <a:latin typeface="Urbanist Medium"/>
              </a:rPr>
              <a:t>id_origem / id_destino / flag / código_aleatório / CRC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5625" y="2871787"/>
            <a:ext cx="46196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Transmitidos em tempos aleatórios para mitigar colisões de pacotes (Aloha-style).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5625" y="3557587"/>
            <a:ext cx="461962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Existem 4 tipos de aviso: Alerta de nova mensagem, Hash IPFS na rede, Solicitação de reenvio de bloco e Reenvio de aviso.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1859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8717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5575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1859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28717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3557587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EA5E9"/>
                </a:solidFill>
                <a:latin typeface="Urbanist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Protocolo de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Comunicação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1597818"/>
            <a:ext cx="9048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Compressão e Divisão:</a:t>
            </a:r>
            <a:r>
              <a:rPr sz="1500" b="0" i="0" u="none">
                <a:solidFill>
                  <a:srgbClr val="CBD5E1"/>
                </a:solidFill>
                <a:latin typeface="Urbanist Medium"/>
              </a:rPr>
              <a:t> O dispositivo do usuário criptografa, corta a mensagem em blocos e envia o "Aviso Inicial" via Bluetooth para o Nó mais próximo.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2407443"/>
            <a:ext cx="9048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Broadcast LoRa:</a:t>
            </a:r>
            <a:r>
              <a:rPr sz="1500" b="0" i="0" u="none">
                <a:solidFill>
                  <a:srgbClr val="CBD5E1"/>
                </a:solidFill>
                <a:latin typeface="Urbanist Medium"/>
              </a:rPr>
              <a:t> O nó transmite o aviso para a rede em um canal de controle. Os nós ouvintes mudam para o canal de dados e iniciam a recepção.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217068"/>
            <a:ext cx="9048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Validação:</a:t>
            </a:r>
            <a:r>
              <a:rPr sz="1500" b="0" i="0" u="none">
                <a:solidFill>
                  <a:srgbClr val="CBD5E1"/>
                </a:solidFill>
                <a:latin typeface="Urbanist Medium"/>
              </a:rPr>
              <a:t> A transmissão é feita </a:t>
            </a:r>
            <a:r>
              <a:rPr sz="1500" b="0" i="1" u="none">
                <a:solidFill>
                  <a:srgbClr val="0EA5E9"/>
                </a:solidFill>
                <a:latin typeface="Urbanist Medium"/>
              </a:rPr>
              <a:t>M-1</a:t>
            </a:r>
            <a:r>
              <a:rPr sz="1500" b="0" i="0" u="none">
                <a:solidFill>
                  <a:srgbClr val="CBD5E1"/>
                </a:solidFill>
                <a:latin typeface="Urbanist Medium"/>
              </a:rPr>
              <a:t> vezes. Cada bloco passa pelo check CRC-16. Blocos corrompidos solicitam reenvio automático via novo aviso.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026693"/>
            <a:ext cx="9048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Montagem e Redundância:</a:t>
            </a:r>
            <a:r>
              <a:rPr sz="1500" b="0" i="0" u="none">
                <a:solidFill>
                  <a:srgbClr val="CBD5E1"/>
                </a:solidFill>
                <a:latin typeface="Urbanist Medium"/>
              </a:rPr>
              <a:t> Após recebimento total, o nó remonta os blocos, salva no SD e compartilha via pulso de rádio curto com vizinhos imediatos.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836318"/>
            <a:ext cx="9048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Entrega e Flag:</a:t>
            </a:r>
            <a:r>
              <a:rPr sz="1500" b="0" i="0" u="none">
                <a:solidFill>
                  <a:srgbClr val="CBD5E1"/>
                </a:solidFill>
                <a:latin typeface="Urbanist Medium"/>
              </a:rPr>
              <a:t> Ao detectar o destinatário conectado, o nó entrega, recebe confirmação local e faz broadcast da flag (1) marcando a mensagem lida na rede inteira.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626393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436018"/>
            <a:ext cx="2571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245643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055268"/>
            <a:ext cx="1714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864893"/>
            <a:ext cx="2000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Caminho de Dados: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Arquivos Pequenos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488" y="1726406"/>
            <a:ext cx="3790950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88318"/>
            <a:ext cx="5285928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Arquivos grandes contornam o limite LoRa: são criptografados pelo app e enviados para o servidor IPFS (AWS) via internet (WiFi/4G local).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40831"/>
            <a:ext cx="5285928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O servidor AWS processa, "pinna" o arquivo na rede global e retorna o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Hash IPFS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único gerado para aquele conteúdo.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21881"/>
            <a:ext cx="5285928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O dispositivo do remente cria um </a:t>
            </a:r>
            <a:r>
              <a:rPr sz="1425" b="1" i="0" u="none">
                <a:solidFill>
                  <a:srgbClr val="F8FAFC"/>
                </a:solidFill>
                <a:latin typeface="Urbanist"/>
              </a:rPr>
              <a:t>Aviso LoRa Especial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contendo o Hash e envia para a malha.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02931"/>
            <a:ext cx="5285928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 Medium"/>
              </a:rPr>
              <a:t>O destinatário recebe apenas o Hash via rádio, usa seu gateway local de internet e baixa o arquivo completo e criptografado da nuvem.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1807368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859881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3640931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" y="4421981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Caminho de Dados: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Mídias via IPFS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381220"/>
            <a:ext cx="3733800" cy="2481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7250" y="2312193"/>
            <a:ext cx="7524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Urbanist"/>
              </a:rPr>
              <a:t>Validação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2588418"/>
            <a:ext cx="6953250" cy="518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37"/>
              </a:lnSpc>
            </a:pP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Montagem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da rede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envolvendo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pelo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menos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5 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nós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ESP32 LoRa V3 para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validar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a </a:t>
            </a:r>
            <a:r>
              <a:rPr sz="1400" b="0" i="0" u="none" dirty="0" err="1">
                <a:solidFill>
                  <a:srgbClr val="CBD5E1"/>
                </a:solidFill>
                <a:latin typeface="Urbanist Medium"/>
              </a:rPr>
              <a:t>comunicação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e </a:t>
            </a:r>
            <a:r>
              <a:rPr lang="en-US" sz="1400" dirty="0" err="1">
                <a:solidFill>
                  <a:srgbClr val="CBD5E1"/>
                </a:solidFill>
                <a:latin typeface="Urbanist Medium"/>
              </a:rPr>
              <a:t>escalabilidade</a:t>
            </a:r>
            <a:r>
              <a:rPr sz="1400" b="0" i="0" u="none" dirty="0">
                <a:solidFill>
                  <a:srgbClr val="CBD5E1"/>
                </a:solidFill>
                <a:latin typeface="Urbanist Medium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3369468"/>
            <a:ext cx="6953250" cy="249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37"/>
              </a:lnSpc>
            </a:pPr>
            <a:r>
              <a:rPr lang="en-US" sz="1400" dirty="0" err="1">
                <a:solidFill>
                  <a:srgbClr val="CBD5E1"/>
                </a:solidFill>
                <a:latin typeface="Urbanist Medium"/>
              </a:rPr>
              <a:t>Estação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 de </a:t>
            </a:r>
            <a:r>
              <a:rPr lang="en-US" sz="1400" dirty="0" err="1">
                <a:solidFill>
                  <a:srgbClr val="CBD5E1"/>
                </a:solidFill>
                <a:latin typeface="Urbanist Medium"/>
              </a:rPr>
              <a:t>monitoramento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lang="en-US" sz="1400" dirty="0" err="1">
                <a:solidFill>
                  <a:srgbClr val="CBD5E1"/>
                </a:solidFill>
                <a:latin typeface="Urbanist Medium"/>
              </a:rPr>
              <a:t>remoto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.</a:t>
            </a:r>
            <a:endParaRPr sz="1425" b="0" i="0" u="none" dirty="0" err="1">
              <a:solidFill>
                <a:srgbClr val="CBD5E1"/>
              </a:solidFill>
              <a:latin typeface="Urbanist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3000" y="4150518"/>
            <a:ext cx="6953250" cy="249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37"/>
              </a:lnSpc>
            </a:pPr>
            <a:r>
              <a:rPr lang="en-US" sz="1400" dirty="0">
                <a:solidFill>
                  <a:srgbClr val="CBD5E1"/>
                </a:solidFill>
                <a:latin typeface="Urbanist Medium"/>
              </a:rPr>
              <a:t>Sistema de </a:t>
            </a:r>
            <a:r>
              <a:rPr lang="en-US" sz="1400" dirty="0" err="1">
                <a:solidFill>
                  <a:srgbClr val="CBD5E1"/>
                </a:solidFill>
                <a:latin typeface="Urbanist Medium"/>
              </a:rPr>
              <a:t>controle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 de </a:t>
            </a:r>
            <a:r>
              <a:rPr lang="en-US" sz="1400" dirty="0" err="1">
                <a:solidFill>
                  <a:srgbClr val="CBD5E1"/>
                </a:solidFill>
                <a:latin typeface="Urbanist Medium"/>
              </a:rPr>
              <a:t>despacho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 </a:t>
            </a:r>
            <a:r>
              <a:rPr lang="en-US" sz="1400" dirty="0" err="1">
                <a:solidFill>
                  <a:srgbClr val="CBD5E1"/>
                </a:solidFill>
                <a:latin typeface="Urbanist Medium"/>
              </a:rPr>
              <a:t>remoto</a:t>
            </a:r>
            <a:r>
              <a:rPr lang="en-US" sz="1400" dirty="0">
                <a:solidFill>
                  <a:srgbClr val="CBD5E1"/>
                </a:solidFill>
                <a:latin typeface="Urbanist Medium"/>
              </a:rPr>
              <a:t>  </a:t>
            </a:r>
            <a:endParaRPr lang="en-US" sz="1400" b="0" i="0" u="none" dirty="0">
              <a:solidFill>
                <a:srgbClr val="CBD5E1"/>
              </a:solidFill>
              <a:latin typeface="Urbanist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7250" y="2607468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0" y="3388518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0" y="4169568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Prova de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Conceito (PoC)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38262"/>
            <a:ext cx="3683049" cy="4567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49" y="1338262"/>
            <a:ext cx="3683049" cy="4567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349" y="1338262"/>
            <a:ext cx="3683049" cy="4567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63353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2443162"/>
            <a:ext cx="30924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EA5E9"/>
                </a:solidFill>
                <a:latin typeface="Urbanist"/>
              </a:rPr>
              <a:t>Zonas Rurais e Agro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890837"/>
            <a:ext cx="3092499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CBD5E1"/>
                </a:solidFill>
                <a:latin typeface="Urbanist Medium"/>
              </a:rPr>
              <a:t>Monitoramento e envio de comandos para sensores/atuadores em grandes fazendas sem infraestrutura 4G, usando pontos de coleta na roça.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1633537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9824" y="2443162"/>
            <a:ext cx="30924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EA5E9"/>
                </a:solidFill>
                <a:latin typeface="Urbanist"/>
              </a:rPr>
              <a:t>Comunicação Off-Grid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2890837"/>
            <a:ext cx="3092499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CBD5E1"/>
                </a:solidFill>
                <a:latin typeface="Urbanist Medium"/>
              </a:rPr>
              <a:t>Criação instantânea de redes de contato em áreas de desastre, resgate florestal ou regiões isoladas onde telecomunicações falharam.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624" y="163353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8624" y="2443162"/>
            <a:ext cx="30924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EA5E9"/>
                </a:solidFill>
                <a:latin typeface="Urbanist"/>
              </a:rPr>
              <a:t>Redes M2M Privadas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2890837"/>
            <a:ext cx="3092499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CBD5E1"/>
                </a:solidFill>
                <a:latin typeface="Urbanist Medium"/>
              </a:rPr>
              <a:t>Troca de telemetria segura, isolada e anônima entre máquinas industriais sem a necessidade de pagar provedores de rede (operadoras locais).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7" y="1785937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887" y="1785937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1974" y="1785937"/>
            <a:ext cx="3048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Principais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Aplicações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5750" y="3793331"/>
            <a:ext cx="1162050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8933" y="4098131"/>
            <a:ext cx="280628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8B5CF6"/>
                </a:solidFill>
                <a:latin typeface="Urbanist"/>
              </a:rPr>
              <a:t>Etapa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4555331"/>
            <a:ext cx="267265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Urbanist"/>
              </a:rPr>
              <a:t>Configuração do Hardware ESP32, testes físicos LoRa e base do protocolo CRC-16 e Avisos.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1449" y="2374106"/>
            <a:ext cx="280628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8B5CF6"/>
                </a:solidFill>
                <a:latin typeface="Urbanist"/>
              </a:rPr>
              <a:t>Etapa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8265" y="2831306"/>
            <a:ext cx="267265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Urbanist"/>
              </a:rPr>
              <a:t>Desenvolvimento das bibliotecas C e Dart, ponte Bluetooth e lógica de partição SD.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3964" y="4098131"/>
            <a:ext cx="280628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8B5CF6"/>
                </a:solidFill>
                <a:latin typeface="Urbanist"/>
              </a:rPr>
              <a:t>Etapa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0781" y="4555331"/>
            <a:ext cx="267265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Urbanist"/>
              </a:rPr>
              <a:t>Deploy IPFS via servidor AWS, integração de roteamento de Hash e Gateways de borda.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6480" y="2374106"/>
            <a:ext cx="280628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8B5CF6"/>
                </a:solidFill>
                <a:latin typeface="Urbanist"/>
              </a:rPr>
              <a:t>Etapa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3296" y="2831306"/>
            <a:ext cx="267265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CBD5E1"/>
                </a:solidFill>
                <a:latin typeface="Urbanist"/>
              </a:rPr>
              <a:t>Prova</a:t>
            </a:r>
            <a:r>
              <a:rPr sz="1200" b="0" i="0" u="none" dirty="0">
                <a:solidFill>
                  <a:srgbClr val="CBD5E1"/>
                </a:solidFill>
                <a:latin typeface="Urbanist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Urbanist"/>
              </a:rPr>
              <a:t>conceito</a:t>
            </a:r>
            <a:r>
              <a:rPr sz="1200" b="0" i="0" u="none" dirty="0">
                <a:solidFill>
                  <a:srgbClr val="CBD5E1"/>
                </a:solidFill>
                <a:latin typeface="Urbanist"/>
              </a:rPr>
              <a:t> final, </a:t>
            </a:r>
            <a:r>
              <a:rPr sz="1200" b="0" i="0" u="none" dirty="0" err="1">
                <a:solidFill>
                  <a:srgbClr val="CBD5E1"/>
                </a:solidFill>
                <a:latin typeface="Urbanist"/>
              </a:rPr>
              <a:t>bateria</a:t>
            </a:r>
            <a:r>
              <a:rPr sz="1200" b="0" i="0" u="none" dirty="0">
                <a:solidFill>
                  <a:srgbClr val="CBD5E1"/>
                </a:solidFill>
                <a:latin typeface="Urbanist"/>
              </a:rPr>
              <a:t> de testes </a:t>
            </a:r>
            <a:r>
              <a:rPr sz="1200" b="0" i="0" u="none" dirty="0" err="1">
                <a:solidFill>
                  <a:srgbClr val="CBD5E1"/>
                </a:solidFill>
                <a:latin typeface="Urbanist"/>
              </a:rPr>
              <a:t>em</a:t>
            </a:r>
            <a:r>
              <a:rPr sz="12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Urbanist"/>
              </a:rPr>
              <a:t>ambiente</a:t>
            </a:r>
            <a:r>
              <a:rPr sz="12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Urbanist"/>
              </a:rPr>
              <a:t>aberto</a:t>
            </a:r>
            <a:r>
              <a:rPr sz="1200" b="0" i="0" u="none" dirty="0">
                <a:solidFill>
                  <a:srgbClr val="CBD5E1"/>
                </a:solidFill>
                <a:latin typeface="Urbanist"/>
              </a:rPr>
              <a:t> e </a:t>
            </a:r>
            <a:r>
              <a:rPr lang="en-US" sz="1200" dirty="0" err="1">
                <a:solidFill>
                  <a:srgbClr val="CBD5E1"/>
                </a:solidFill>
                <a:latin typeface="Urbanist"/>
              </a:rPr>
              <a:t>integração</a:t>
            </a:r>
            <a:r>
              <a:rPr lang="en-US" sz="1200" dirty="0">
                <a:solidFill>
                  <a:srgbClr val="CBD5E1"/>
                </a:solidFill>
                <a:latin typeface="Urbanist"/>
              </a:rPr>
              <a:t> com </a:t>
            </a:r>
            <a:r>
              <a:rPr lang="en-US" sz="1200" dirty="0" err="1">
                <a:solidFill>
                  <a:srgbClr val="CBD5E1"/>
                </a:solidFill>
                <a:latin typeface="Urbanist"/>
              </a:rPr>
              <a:t>projetos</a:t>
            </a:r>
            <a:r>
              <a:rPr lang="en-US" sz="1200" dirty="0">
                <a:solidFill>
                  <a:srgbClr val="CBD5E1"/>
                </a:solidFill>
                <a:latin typeface="Urbanist"/>
              </a:rPr>
              <a:t> da </a:t>
            </a:r>
            <a:r>
              <a:rPr lang="en-US" sz="1200" dirty="0" err="1">
                <a:solidFill>
                  <a:srgbClr val="CBD5E1"/>
                </a:solidFill>
                <a:latin typeface="Urbanist"/>
              </a:rPr>
              <a:t>prova</a:t>
            </a:r>
            <a:r>
              <a:rPr lang="en-US" sz="1200" dirty="0">
                <a:solidFill>
                  <a:srgbClr val="CBD5E1"/>
                </a:solidFill>
                <a:latin typeface="Urbanist"/>
              </a:rPr>
              <a:t> de </a:t>
            </a:r>
            <a:r>
              <a:rPr lang="en-US" sz="1200" dirty="0" err="1">
                <a:solidFill>
                  <a:srgbClr val="CBD5E1"/>
                </a:solidFill>
                <a:latin typeface="Urbanist"/>
              </a:rPr>
              <a:t>concei</a:t>
            </a:r>
            <a:r>
              <a:rPr lang="en-US" sz="1200" dirty="0">
                <a:solidFill>
                  <a:srgbClr val="CBD5E1"/>
                </a:solidFill>
                <a:latin typeface="Urbanist"/>
              </a:rPr>
              <a:t>to.</a:t>
            </a:r>
            <a:endParaRPr lang="en-US" sz="1200" b="0" i="0" u="none" dirty="0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507777" y="369808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90293" y="369808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72808" y="369808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55324" y="369808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Plano de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Desenvolvimento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669256"/>
            <a:ext cx="10191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Agência Nacional de Telecomunicações (ANATEL):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Resolução nº 680/2017 e Ato nº 14.448 de 04 de dezembro de 2017 (Equipamentos de Radiação Restrita).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50306"/>
            <a:ext cx="10191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GTA/UFRJ - Wiki LoRaWAN: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Estudo acadêmico sobre a arquitetura do protocolo e divisão de frequências em 915 MHz no Brasil.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31356"/>
            <a:ext cx="10191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ABCP Certificação: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Regulamentação ANATEL detalhando limites de espectro e Duty Cycle para smart cities e infraestrutura urbana com LoRa.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12406"/>
            <a:ext cx="10191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Makerguides (2026):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Comunicação de longo alcance com LoRa e impactos de Spreading Factor (SF), Bandwidth (BW) e Coding Rate (CR).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93456"/>
            <a:ext cx="10191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F8FAFC"/>
                </a:solidFill>
                <a:latin typeface="Urbanist"/>
              </a:rPr>
              <a:t>Documentações Oficiais:</a:t>
            </a:r>
            <a:r>
              <a:rPr sz="1425" b="0" i="0" u="none">
                <a:solidFill>
                  <a:srgbClr val="CBD5E1"/>
                </a:solidFill>
                <a:latin typeface="Urbanist Medium"/>
              </a:rPr>
              <a:t> Semtech LoRaWAN Protocol, Espressif ESP32 Docs, Protocol Labs IPFS Architecture, AWS Cloud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688306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469356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250406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031456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812506"/>
            <a:ext cx="114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EA5E9"/>
                </a:solidFill>
                <a:latin typeface="Urbanist Medium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" y="285750"/>
            <a:ext cx="119062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sz="4125" b="1" i="0" u="none">
                <a:solidFill>
                  <a:srgbClr val="F8FAFC"/>
                </a:solidFill>
                <a:latin typeface="Urbanist"/>
              </a:rPr>
              <a:t>Referências </a:t>
            </a:r>
            <a:r>
              <a:rPr sz="4125" b="1" i="0" u="none">
                <a:solidFill>
                  <a:srgbClr val="0EA5E9"/>
                </a:solidFill>
                <a:latin typeface="Urbanist"/>
              </a:rPr>
              <a:t>Bibliográficas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875" y="2271712"/>
            <a:ext cx="11906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0EA5E9"/>
                </a:solidFill>
                <a:latin typeface="Urbanist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" y="3414712"/>
            <a:ext cx="11620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CBD5E1"/>
                </a:solidFill>
                <a:latin typeface="Urbanist"/>
              </a:rPr>
              <a:t>Obrigado pela atenção e pelo interesse em nosso projeto!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206</cp:revision>
  <dcterms:created xsi:type="dcterms:W3CDTF">2013-01-27T09:14:16Z</dcterms:created>
  <dcterms:modified xsi:type="dcterms:W3CDTF">2026-08-31T13:35:48Z</dcterms:modified>
  <cp:category/>
</cp:coreProperties>
</file>